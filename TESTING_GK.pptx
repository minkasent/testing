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1" r:id="rId5"/>
    <p:sldId id="262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53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9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4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4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49.png"/><Relationship Id="rId9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4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50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24805" y="-1429207"/>
            <a:ext cx="7619695" cy="7619695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29207" y="3047695"/>
            <a:ext cx="5715000" cy="5715000"/>
          </a:xfrm>
          <a:prstGeom prst="ellipse">
            <a:avLst/>
          </a:prstGeom>
          <a:solidFill>
            <a:srgbClr val="B3E5FC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01100" y="2743200"/>
            <a:ext cx="952805" cy="952805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381305" y="381305"/>
            <a:ext cx="1904695" cy="190469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2286000" y="1310336"/>
            <a:ext cx="7448702" cy="436717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10049256" y="5793638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42385" y="2595669"/>
            <a:ext cx="633496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Decision Table Testing</a:t>
            </a:r>
            <a:endParaRPr lang="en-US" sz="3600" dirty="0"/>
          </a:p>
        </p:txBody>
      </p:sp>
      <p:sp>
        <p:nvSpPr>
          <p:cNvPr id="15" name="Text 9"/>
          <p:cNvSpPr txBox="1"/>
          <p:nvPr/>
        </p:nvSpPr>
        <p:spPr>
          <a:xfrm>
            <a:off x="3056839" y="4622292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/>
              <a:t>SVTH</a:t>
            </a:r>
          </a:p>
        </p:txBody>
      </p:sp>
      <p:sp>
        <p:nvSpPr>
          <p:cNvPr id="16" name="Text 10"/>
          <p:cNvSpPr txBox="1"/>
          <p:nvPr/>
        </p:nvSpPr>
        <p:spPr>
          <a:xfrm>
            <a:off x="3056839" y="4850892"/>
            <a:ext cx="23353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Đăng Khoa</a:t>
            </a:r>
            <a:endParaRPr lang="en-US" sz="18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D58430F-90B4-B185-A40D-343F2E2E7659}"/>
              </a:ext>
            </a:extLst>
          </p:cNvPr>
          <p:cNvSpPr txBox="1"/>
          <p:nvPr/>
        </p:nvSpPr>
        <p:spPr>
          <a:xfrm>
            <a:off x="6031381" y="4622292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/>
              <a:t>GVHD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4A1EE77-2717-064E-A01E-B415DFF638FD}"/>
              </a:ext>
            </a:extLst>
          </p:cNvPr>
          <p:cNvSpPr txBox="1"/>
          <p:nvPr/>
        </p:nvSpPr>
        <p:spPr>
          <a:xfrm>
            <a:off x="6031381" y="4850892"/>
            <a:ext cx="23353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/>
              <a:t>ThS</a:t>
            </a:r>
            <a:r>
              <a:rPr lang="en-US" sz="1800" b="1" dirty="0"/>
              <a:t>. </a:t>
            </a:r>
            <a:r>
              <a:rPr lang="en-US" b="1" dirty="0"/>
              <a:t>Phạm </a:t>
            </a:r>
            <a:r>
              <a:rPr lang="en-US" b="1" dirty="0" err="1"/>
              <a:t>Trọng</a:t>
            </a:r>
            <a:r>
              <a:rPr lang="en-US" b="1" dirty="0"/>
              <a:t> Huynh</a:t>
            </a:r>
            <a:endParaRPr 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429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6972" y="369875"/>
            <a:ext cx="28090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Cấu Trúc Báo Cáo Kiểm Thử</a:t>
            </a:r>
            <a:endParaRPr lang="en-US" sz="1600" b="1" dirty="0"/>
          </a:p>
        </p:txBody>
      </p:sp>
      <p:sp>
        <p:nvSpPr>
          <p:cNvPr id="10" name="Shape 6"/>
          <p:cNvSpPr/>
          <p:nvPr/>
        </p:nvSpPr>
        <p:spPr>
          <a:xfrm>
            <a:off x="9334195" y="4000500"/>
            <a:ext cx="3810305" cy="3810305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905695" y="1143000"/>
            <a:ext cx="1904695" cy="1904695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500" y="123809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33349" y="153893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05002" y="153893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209751" y="150601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Tổng Quan Dự Án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09751" y="1753819"/>
            <a:ext cx="48691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Giới thiệu ứng dụng, mục tiêu, công nghệ và thời gian thực hiện.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86500" y="123809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48349" y="153893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20002" y="153893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924751" y="150601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Thử Tự Động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924751" y="175381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Công cụ JUnit 5, kịch bản test và kết quả chạy tự động.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71500" y="233537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33349" y="263621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05002" y="263621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209751" y="260329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Phân Tích Yêu Cầu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209751" y="285109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Danh sách chức năng, phạm vi, đối tượng và ma trận truy vết.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86500" y="233537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448349" y="263621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420002" y="263621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924751" y="260329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Lỗi (Bug Report)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924751" y="285109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Danh sách lỗi tìm được, phân loại và thống kê.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71500" y="343265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733349" y="373349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05002" y="373349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209751" y="370057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 Hoạch Kiểm Thử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1209751" y="394837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tiêu, chiến lược, môi trường, rủi ro và lịch trình.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286500" y="343265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448349" y="373349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420002" y="373349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6924751" y="370057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Tổng Kết &amp; Đánh Giá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6924751" y="394837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 chất lượng, bài học kinh nghiệm và đề xuất.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71500" y="452993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733349" y="483077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05002" y="483077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1209751" y="479785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Thiết Kế Ca Kiểm Thử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1209751" y="504565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hộp đen: Bảng quyết định, Giá trị biên, Phân vùng.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286500" y="452993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6448349" y="483077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6420002" y="483077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6924751" y="479785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Tài Liệu Tham Khảo</a:t>
            </a:r>
            <a:endParaRPr lang="en-US" sz="1200" dirty="0"/>
          </a:p>
        </p:txBody>
      </p:sp>
      <p:sp>
        <p:nvSpPr>
          <p:cNvPr id="52" name="Text 48"/>
          <p:cNvSpPr txBox="1"/>
          <p:nvPr/>
        </p:nvSpPr>
        <p:spPr>
          <a:xfrm>
            <a:off x="6924751" y="504565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nguồn tài liệu, chuẩn và thư viện sử dụng.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571500" y="5627218"/>
            <a:ext cx="5333695" cy="952805"/>
          </a:xfrm>
          <a:prstGeom prst="roundRect">
            <a:avLst>
              <a:gd name="adj" fmla="val 1919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733349" y="5928055"/>
            <a:ext cx="342900" cy="342900"/>
          </a:xfrm>
          <a:prstGeom prst="ellipse">
            <a:avLst/>
          </a:prstGeom>
          <a:solidFill>
            <a:srgbClr val="E1F5FE"/>
          </a:solidFill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705002" y="5928055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1209751" y="5895137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Thực Thi Kiểm Thử</a:t>
            </a:r>
            <a:endParaRPr lang="en-US" sz="1200" dirty="0"/>
          </a:p>
        </p:txBody>
      </p:sp>
      <p:sp>
        <p:nvSpPr>
          <p:cNvPr id="57" name="Text 53"/>
          <p:cNvSpPr txBox="1"/>
          <p:nvPr/>
        </p:nvSpPr>
        <p:spPr>
          <a:xfrm>
            <a:off x="1209751" y="6142939"/>
            <a:ext cx="4648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test chức năng, tích hợp, hệ thống và hồi quy.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671170" y="342900"/>
            <a:ext cx="256946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1405" y="171907"/>
            <a:ext cx="3143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Quan Dự Án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181405" y="552298"/>
            <a:ext cx="35981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1: Giới thiệu ứng dụng, mục tiêu và công nghệ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334195" y="4476902"/>
            <a:ext cx="3810305" cy="3810305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239098" y="1238098"/>
            <a:ext cx="2381098" cy="2381098"/>
          </a:xfrm>
          <a:prstGeom prst="ellipse">
            <a:avLst/>
          </a:prstGeom>
          <a:solidFill>
            <a:srgbClr val="B3E5F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500" y="1333195"/>
            <a:ext cx="5372100" cy="2924251"/>
          </a:xfrm>
          <a:prstGeom prst="roundRect">
            <a:avLst>
              <a:gd name="adj" fmla="val 24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14300" dist="38100" dir="16200000" algn="bl" rotWithShape="0">
              <a:srgbClr val="0288D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9244" y="2143354"/>
            <a:ext cx="4895698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9244" y="157185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929030" y="1705356"/>
            <a:ext cx="21945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9149" y="1671523"/>
            <a:ext cx="39410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 Giới Thiệu </a:t>
            </a:r>
            <a:r>
              <a:rPr lang="en-US" sz="1300" b="1" dirty="0" err="1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</a:t>
            </a: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b="1" dirty="0" err="1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Dụng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9244" y="2391156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961949" y="2314346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Hệ thống: </a:t>
            </a: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Promotion Engine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xử lý khuyến mãi phức tạp dựa trên </a:t>
            </a: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quyết định (Decision Table)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09244" y="2866644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961949" y="2790749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Điều kiện đầu vào: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Giá trị đơn hàng, Loại khách hàng (VIP/Member), Loại ngày, Coupon, Flash Sale.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3343046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961949" y="3267151"/>
            <a:ext cx="4277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Kết quả đầu ra: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Các mức giảm giá cụ thể và tổng tiền giảm.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9244" y="3619195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961949" y="3543300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Quy tắc chính:</a:t>
            </a:r>
            <a:r>
              <a:rPr lang="en-US" sz="1000" dirty="0">
                <a:solidFill>
                  <a:srgbClr val="D8431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 Sale độc quyền (15%)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không cộng dồn. Hàng thường được cộng dồn tối đa </a:t>
            </a:r>
            <a:r>
              <a:rPr lang="en-US" sz="1000" dirty="0">
                <a:solidFill>
                  <a:srgbClr val="D8431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48095" y="1333195"/>
            <a:ext cx="5372100" cy="2924251"/>
          </a:xfrm>
          <a:prstGeom prst="roundRect">
            <a:avLst>
              <a:gd name="adj" fmla="val 24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14300" dist="38100" dir="16200000" algn="bl" rotWithShape="0">
              <a:srgbClr val="0288D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486754" y="2143354"/>
            <a:ext cx="4895698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486754" y="157185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0256" y="1705356"/>
            <a:ext cx="190195" cy="1901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095744" y="1671523"/>
            <a:ext cx="21424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 Mục Tiêu Bài Tập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486754" y="2391156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6638544" y="2314346"/>
            <a:ext cx="42885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Áp dụng kỹ thuật </a:t>
            </a: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Table Testing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vào bài toán thực tế.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86754" y="2667305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6638544" y="2590495"/>
            <a:ext cx="5058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hợp </a:t>
            </a: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giá trị biên (BVA)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tại các mốc quan trọng (500k, 1 triệu).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486754" y="2943454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638544" y="2866644"/>
            <a:ext cx="34445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các quy tắc cộng dồn và giới hạn trần 30%.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486754" y="3219602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6638544" y="3143707"/>
            <a:ext cx="5020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Viết code kiểm thử tự động với </a:t>
            </a: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JUnit 5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để tối ưu quy trình regression test.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571500" y="4486046"/>
            <a:ext cx="5524500" cy="2295754"/>
          </a:xfrm>
          <a:prstGeom prst="roundRect">
            <a:avLst>
              <a:gd name="adj" fmla="val 527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14300" dist="38100" dir="16200000" algn="bl" rotWithShape="0">
              <a:srgbClr val="0288D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809244" y="5296205"/>
            <a:ext cx="4895698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809244" y="472470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929030" y="4858207"/>
            <a:ext cx="219456" cy="19019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419149" y="4824374"/>
            <a:ext cx="26462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1.3 Công Nghệ &amp; Nền Tảng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809244" y="5544007"/>
            <a:ext cx="761695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896113" y="5544007"/>
            <a:ext cx="73243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Java 21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1705356" y="5544007"/>
            <a:ext cx="1086307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1923899" y="5544007"/>
            <a:ext cx="9244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Spring Boot 3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2921508" y="5544007"/>
            <a:ext cx="847649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3087015" y="5544007"/>
            <a:ext cx="73974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React 19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3896258" y="5544007"/>
            <a:ext cx="1037844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4172407" y="5544007"/>
            <a:ext cx="8193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H2 Database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809244" y="5943600"/>
            <a:ext cx="761695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929030" y="5943600"/>
            <a:ext cx="68102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JUnit 5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1696212" y="5943600"/>
            <a:ext cx="1152144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1981505" y="5943600"/>
            <a:ext cx="9244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Apache Maven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2974543" y="5943600"/>
            <a:ext cx="533095" cy="267005"/>
          </a:xfrm>
          <a:prstGeom prst="roundRect">
            <a:avLst>
              <a:gd name="adj" fmla="val 342465"/>
            </a:avLst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3105303" y="5943600"/>
            <a:ext cx="53309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60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Git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809244" y="6458407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 txBox="1"/>
          <p:nvPr/>
        </p:nvSpPr>
        <p:spPr>
          <a:xfrm>
            <a:off x="961949" y="6381598"/>
            <a:ext cx="27770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Môi trường IDE: VS Code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6248095" y="4486046"/>
            <a:ext cx="5372100" cy="1990649"/>
          </a:xfrm>
          <a:prstGeom prst="roundRect">
            <a:avLst>
              <a:gd name="adj" fmla="val 527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14300" dist="38100" dir="16200000" algn="bl" rotWithShape="0">
              <a:srgbClr val="0288D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4"/>
          <p:cNvSpPr/>
          <p:nvPr/>
        </p:nvSpPr>
        <p:spPr>
          <a:xfrm>
            <a:off x="6486754" y="5296205"/>
            <a:ext cx="4895698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5"/>
          <p:cNvSpPr/>
          <p:nvPr/>
        </p:nvSpPr>
        <p:spPr>
          <a:xfrm>
            <a:off x="6486754" y="472470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629400" y="4858207"/>
            <a:ext cx="171907" cy="19019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7095744" y="4824374"/>
            <a:ext cx="225582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1.4 Thời Gian Dự Kiến</a:t>
            </a:r>
            <a:endParaRPr lang="en-US" sz="1300" dirty="0"/>
          </a:p>
        </p:txBody>
      </p:sp>
      <p:sp>
        <p:nvSpPr>
          <p:cNvPr id="65" name="Shape 57"/>
          <p:cNvSpPr/>
          <p:nvPr/>
        </p:nvSpPr>
        <p:spPr>
          <a:xfrm>
            <a:off x="6486754" y="5266944"/>
            <a:ext cx="4895698" cy="780898"/>
          </a:xfrm>
          <a:prstGeom prst="roundRect">
            <a:avLst>
              <a:gd name="adj" fmla="val 228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8"/>
          <p:cNvSpPr txBox="1"/>
          <p:nvPr/>
        </p:nvSpPr>
        <p:spPr>
          <a:xfrm>
            <a:off x="6648602" y="5429707"/>
            <a:ext cx="1657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Tuần 1 - Tuần 7</a:t>
            </a:r>
            <a:endParaRPr lang="en-US" sz="1300" dirty="0"/>
          </a:p>
        </p:txBody>
      </p:sp>
      <p:sp>
        <p:nvSpPr>
          <p:cNvPr id="67" name="Text 59"/>
          <p:cNvSpPr txBox="1"/>
          <p:nvPr/>
        </p:nvSpPr>
        <p:spPr>
          <a:xfrm>
            <a:off x="6648602" y="5695798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Toàn bộ quy trình kiểm thử</a:t>
            </a:r>
            <a:endParaRPr lang="en-US" sz="1000" dirty="0"/>
          </a:p>
        </p:txBody>
      </p:sp>
      <p:pic>
        <p:nvPicPr>
          <p:cNvPr id="6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953598" y="5581498"/>
            <a:ext cx="152705" cy="152705"/>
          </a:xfrm>
          <a:prstGeom prst="rect">
            <a:avLst/>
          </a:prstGeom>
        </p:spPr>
      </p:pic>
      <p:sp>
        <p:nvSpPr>
          <p:cNvPr id="69" name="Shape 60"/>
          <p:cNvSpPr/>
          <p:nvPr/>
        </p:nvSpPr>
        <p:spPr>
          <a:xfrm>
            <a:off x="6486754" y="6238951"/>
            <a:ext cx="57607" cy="57607"/>
          </a:xfrm>
          <a:prstGeom prst="ellipse">
            <a:avLst/>
          </a:prstGeom>
          <a:solidFill>
            <a:srgbClr val="29B6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1"/>
          <p:cNvSpPr txBox="1"/>
          <p:nvPr/>
        </p:nvSpPr>
        <p:spPr>
          <a:xfrm>
            <a:off x="6638544" y="6163056"/>
            <a:ext cx="3838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Bao gồm: Phân tích, Thiết kế Test, Thực thi và Báo cáo.</a:t>
            </a:r>
            <a:endParaRPr lang="en-US" sz="1000" dirty="0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14400" y="5615330"/>
            <a:ext cx="85954" cy="114300"/>
          </a:xfrm>
          <a:prstGeom prst="rect">
            <a:avLst/>
          </a:prstGeom>
        </p:spPr>
      </p:pic>
      <p:pic>
        <p:nvPicPr>
          <p:cNvPr id="7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809598" y="5615330"/>
            <a:ext cx="114300" cy="114300"/>
          </a:xfrm>
          <a:prstGeom prst="rect">
            <a:avLst/>
          </a:prstGeom>
        </p:spPr>
      </p:pic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026664" y="5615330"/>
            <a:ext cx="114300" cy="114300"/>
          </a:xfrm>
          <a:prstGeom prst="rect">
            <a:avLst/>
          </a:prstGeom>
        </p:spPr>
      </p:pic>
      <p:pic>
        <p:nvPicPr>
          <p:cNvPr id="74" name="Image 10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4001414" y="5615330"/>
            <a:ext cx="105156" cy="114300"/>
          </a:xfrm>
          <a:prstGeom prst="rect">
            <a:avLst/>
          </a:prstGeom>
        </p:spPr>
      </p:pic>
      <p:pic>
        <p:nvPicPr>
          <p:cNvPr id="75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14400" y="6014923"/>
            <a:ext cx="114300" cy="114300"/>
          </a:xfrm>
          <a:prstGeom prst="rect">
            <a:avLst/>
          </a:prstGeom>
        </p:spPr>
      </p:pic>
      <p:pic>
        <p:nvPicPr>
          <p:cNvPr id="7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800454" y="6014923"/>
            <a:ext cx="114300" cy="114300"/>
          </a:xfrm>
          <a:prstGeom prst="rect">
            <a:avLst/>
          </a:prstGeom>
        </p:spPr>
      </p:pic>
      <p:pic>
        <p:nvPicPr>
          <p:cNvPr id="77" name="Image 13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3079699" y="6014923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402" y="1095451"/>
            <a:ext cx="11239805" cy="5524805"/>
          </a:xfrm>
          <a:prstGeom prst="roundRect">
            <a:avLst>
              <a:gd name="adj" fmla="val 685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685880"/>
              </p:ext>
            </p:extLst>
          </p:nvPr>
        </p:nvGraphicFramePr>
        <p:xfrm>
          <a:off x="485546" y="1104595"/>
          <a:ext cx="11219688" cy="448056"/>
        </p:xfrm>
        <a:graphic>
          <a:graphicData uri="http://schemas.openxmlformats.org/drawingml/2006/table">
            <a:tbl>
              <a:tblPr/>
              <a:tblGrid>
                <a:gridCol w="1121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2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STT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MÃ CN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TÊN CHỨC NĂNG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MÔ TẢ NGẮN GỌN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ĐỘ ƯU TIÊN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5546" y="1552651"/>
          <a:ext cx="11219688" cy="4879970"/>
        </p:xfrm>
        <a:graphic>
          <a:graphicData uri="http://schemas.openxmlformats.org/drawingml/2006/table">
            <a:tbl>
              <a:tblPr/>
              <a:tblGrid>
                <a:gridCol w="1121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2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F-001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Tính toán Order Value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Giảm giá theo tiền hàng (&lt; 500k: 0%, 500k-1tr: 5%, &gt;1tr: 10%)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6C00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2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F-002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Tính toán Customer Type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Giảm theo khách: Guest 0%, Member 3%, VIP 8%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6C00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3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F-003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Tính toán Day Type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Giảm theo ngày: Normal 0%, Weekend 2%, Holiday 5%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9A825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Trung Bình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4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F-004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Áp dụng Coupon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Kiểm tra và áp mã giảm giá (SAVE10, VIP20...)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6C00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F-005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Flash Sale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Giảm 15% cho hàng Flash Sale (độc quyền)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6C00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6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F-006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Xử lý Overlap Rules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Luật chồng chéo: Flash Sale duy nhất, còn lại cộng dồn max 30%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Rất 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7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F-007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Preview Promotion (API)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Xem trước số tiền được giảm (/checkout/preview)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6C00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8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F-008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Hoàn tất đơn hàng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Lưu đơn hàng và thông tin khuyến mãi vào DB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9A825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Trung Bình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9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F-009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Validate Coupon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API kiểm tra mã giảm giá có hợp lệ/hết hạn không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6C00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Cao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9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10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F-010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Quản lý giỏ hàng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Xem và thêm sản phẩm vào giỏ hàng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58B2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Thấp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0195" y="1047902"/>
            <a:ext cx="1429207" cy="1429207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702" y="295351"/>
            <a:ext cx="228600" cy="228600"/>
          </a:xfrm>
          <a:prstGeom prst="rect">
            <a:avLst/>
          </a:prstGeom>
        </p:spPr>
      </p:pic>
      <p:sp>
        <p:nvSpPr>
          <p:cNvPr id="6" name="Text 8"/>
          <p:cNvSpPr txBox="1"/>
          <p:nvPr/>
        </p:nvSpPr>
        <p:spPr>
          <a:xfrm>
            <a:off x="1086307" y="123444"/>
            <a:ext cx="3400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Danh Sách Chức Năng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086307" y="504749"/>
            <a:ext cx="3400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2.1: Feature List của Hệ thống Khuyến mãi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89" b="-89"/>
          <a:stretch/>
        </p:blipFill>
        <p:spPr>
          <a:xfrm>
            <a:off x="0" y="0"/>
            <a:ext cx="95098" cy="8193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15849" y="42977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58707" y="4000500"/>
            <a:ext cx="4286707" cy="4286707"/>
          </a:xfrm>
          <a:prstGeom prst="ellipse">
            <a:avLst/>
          </a:prstGeom>
          <a:solidFill>
            <a:srgbClr val="E1F5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7707" y="1715414"/>
            <a:ext cx="5343754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362456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62202" y="1314907"/>
            <a:ext cx="27057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SCOPE (Trong Phạm Vi)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33602" y="1914754"/>
            <a:ext cx="114300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0005" y="1876349"/>
            <a:ext cx="4686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 Backend:</a:t>
            </a: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Kiểm thử class PromotionCalculator (Core Engine).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33602" y="2243023"/>
            <a:ext cx="114300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0005" y="2204618"/>
            <a:ext cx="5448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Điều kiện &amp; Kết quả:</a:t>
            </a: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 input (Giá, Khách, Ngày, Coupon, Flash Sale) và 6 output.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33602" y="2572207"/>
            <a:ext cx="114300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0005" y="2533802"/>
            <a:ext cx="464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Quy tắc nghiệp vụ:</a:t>
            </a: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Cộng dồn, Flash Sale độc quyền, Max Cap 30%.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33602" y="2900477"/>
            <a:ext cx="114300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0005" y="2862072"/>
            <a:ext cx="3678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Test:</a:t>
            </a: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Decision Table, Giá trị biên (500k, 1tr).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33602" y="3228746"/>
            <a:ext cx="114300" cy="13350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410005" y="3191256"/>
            <a:ext cx="39419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Automation:</a:t>
            </a: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 Test với JUnit 5 &amp; API Integration Test.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857707" y="4625035"/>
            <a:ext cx="5343754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272077"/>
            <a:ext cx="190195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162202" y="4224528"/>
            <a:ext cx="32488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 OF SCOPE (Ngoài Phạm Vi)</a:t>
            </a:r>
            <a:endParaRPr lang="en-US" sz="15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933602" y="4824374"/>
            <a:ext cx="114300" cy="13350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410005" y="4785970"/>
            <a:ext cx="953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UI/UX Giao diện</a:t>
            </a:r>
            <a:endParaRPr lang="en-US" sz="11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3605479" y="4824374"/>
            <a:ext cx="114300" cy="133502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081882" y="4785970"/>
            <a:ext cx="11585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Bảo mật (Security)</a:t>
            </a:r>
            <a:endParaRPr lang="en-US" sz="11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933602" y="5229454"/>
            <a:ext cx="114300" cy="133502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410005" y="5191049"/>
            <a:ext cx="14301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Hiệu năng (Load Test)</a:t>
            </a:r>
            <a:endParaRPr lang="en-US" sz="11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3605479" y="5229454"/>
            <a:ext cx="114300" cy="133502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081882" y="5191049"/>
            <a:ext cx="12033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Products</a:t>
            </a:r>
            <a:endParaRPr lang="en-US" sz="1100" dirty="0"/>
          </a:p>
        </p:txBody>
      </p:sp>
      <p:sp>
        <p:nvSpPr>
          <p:cNvPr id="35" name="Shape 22"/>
          <p:cNvSpPr/>
          <p:nvPr/>
        </p:nvSpPr>
        <p:spPr>
          <a:xfrm>
            <a:off x="6971449" y="1090879"/>
            <a:ext cx="4800600" cy="5400446"/>
          </a:xfrm>
          <a:prstGeom prst="roundRect">
            <a:avLst>
              <a:gd name="adj" fmla="val 90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3"/>
          <p:cNvSpPr/>
          <p:nvPr/>
        </p:nvSpPr>
        <p:spPr>
          <a:xfrm>
            <a:off x="6819595" y="1076249"/>
            <a:ext cx="57607" cy="5400446"/>
          </a:xfrm>
          <a:prstGeom prst="roundRect">
            <a:avLst>
              <a:gd name="adj" fmla="val 75586"/>
            </a:avLst>
          </a:prstGeom>
          <a:solidFill>
            <a:srgbClr val="0288D1"/>
          </a:solidFill>
          <a:ln w="12700">
            <a:solidFill>
              <a:srgbClr val="0288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4"/>
          <p:cNvSpPr/>
          <p:nvPr/>
        </p:nvSpPr>
        <p:spPr>
          <a:xfrm>
            <a:off x="7105802" y="1715414"/>
            <a:ext cx="4276649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05802" y="1362456"/>
            <a:ext cx="190195" cy="19019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7410298" y="1314907"/>
            <a:ext cx="21241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Tượng Kiểm Thử</a:t>
            </a:r>
            <a:endParaRPr lang="en-US" sz="1500" dirty="0"/>
          </a:p>
        </p:txBody>
      </p:sp>
      <p:sp>
        <p:nvSpPr>
          <p:cNvPr id="40" name="Shape 26"/>
          <p:cNvSpPr/>
          <p:nvPr/>
        </p:nvSpPr>
        <p:spPr>
          <a:xfrm>
            <a:off x="7105802" y="1876349"/>
            <a:ext cx="4276649" cy="666598"/>
          </a:xfrm>
          <a:prstGeom prst="roundRect">
            <a:avLst>
              <a:gd name="adj" fmla="val 31354"/>
            </a:avLst>
          </a:prstGeom>
          <a:solidFill>
            <a:srgbClr val="F0F7FF"/>
          </a:solidFill>
          <a:ln w="12700">
            <a:solidFill>
              <a:srgbClr val="E1F5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7"/>
          <p:cNvSpPr/>
          <p:nvPr/>
        </p:nvSpPr>
        <p:spPr>
          <a:xfrm>
            <a:off x="7267651" y="20189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401154" y="2133295"/>
            <a:ext cx="114300" cy="15270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7800746" y="2000707"/>
            <a:ext cx="2483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PromotionCalculator </a:t>
            </a:r>
            <a:r>
              <a:rPr lang="en-US" sz="800" b="1" dirty="0">
                <a:solidFill>
                  <a:srgbClr val="1976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</a:t>
            </a:r>
            <a:endParaRPr lang="en-US" sz="1100" dirty="0"/>
          </a:p>
        </p:txBody>
      </p:sp>
      <p:sp>
        <p:nvSpPr>
          <p:cNvPr id="44" name="Text 29"/>
          <p:cNvSpPr txBox="1"/>
          <p:nvPr/>
        </p:nvSpPr>
        <p:spPr>
          <a:xfrm>
            <a:off x="7800746" y="2233879"/>
            <a:ext cx="26179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Bộ máy tính toán khuyến mãi (Core)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7105802" y="2771546"/>
            <a:ext cx="4276649" cy="666598"/>
          </a:xfrm>
          <a:prstGeom prst="roundRect">
            <a:avLst>
              <a:gd name="adj" fmla="val 31354"/>
            </a:avLst>
          </a:prstGeom>
          <a:solidFill>
            <a:srgbClr val="F0F7FF"/>
          </a:solidFill>
          <a:ln w="12700">
            <a:solidFill>
              <a:srgbClr val="E1F5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1"/>
          <p:cNvSpPr/>
          <p:nvPr/>
        </p:nvSpPr>
        <p:spPr>
          <a:xfrm>
            <a:off x="7267651" y="291510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7362749" y="3029407"/>
            <a:ext cx="190195" cy="152705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7800746" y="2895905"/>
            <a:ext cx="2030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PromotionContext </a:t>
            </a: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DTO</a:t>
            </a:r>
            <a:endParaRPr lang="en-US" sz="1100" dirty="0"/>
          </a:p>
        </p:txBody>
      </p:sp>
      <p:sp>
        <p:nvSpPr>
          <p:cNvPr id="49" name="Text 33"/>
          <p:cNvSpPr txBox="1"/>
          <p:nvPr/>
        </p:nvSpPr>
        <p:spPr>
          <a:xfrm>
            <a:off x="7800746" y="3129077"/>
            <a:ext cx="2324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Gói dữ liệu đầu vào (Input Wrapper)</a:t>
            </a:r>
            <a:endParaRPr lang="en-US" sz="900" dirty="0"/>
          </a:p>
        </p:txBody>
      </p:sp>
      <p:sp>
        <p:nvSpPr>
          <p:cNvPr id="50" name="Shape 34"/>
          <p:cNvSpPr/>
          <p:nvPr/>
        </p:nvSpPr>
        <p:spPr>
          <a:xfrm>
            <a:off x="7105802" y="3666744"/>
            <a:ext cx="4276649" cy="666598"/>
          </a:xfrm>
          <a:prstGeom prst="roundRect">
            <a:avLst>
              <a:gd name="adj" fmla="val 31354"/>
            </a:avLst>
          </a:prstGeom>
          <a:solidFill>
            <a:srgbClr val="F0F7FF"/>
          </a:solidFill>
          <a:ln w="12700">
            <a:solidFill>
              <a:srgbClr val="E1F5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5"/>
          <p:cNvSpPr/>
          <p:nvPr/>
        </p:nvSpPr>
        <p:spPr>
          <a:xfrm>
            <a:off x="7267651" y="38103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7401154" y="3924605"/>
            <a:ext cx="114300" cy="152705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7800746" y="3791102"/>
            <a:ext cx="1838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PromotionResult </a:t>
            </a: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DTO</a:t>
            </a:r>
            <a:endParaRPr lang="en-US" sz="1100" dirty="0"/>
          </a:p>
        </p:txBody>
      </p:sp>
      <p:sp>
        <p:nvSpPr>
          <p:cNvPr id="54" name="Text 37"/>
          <p:cNvSpPr txBox="1"/>
          <p:nvPr/>
        </p:nvSpPr>
        <p:spPr>
          <a:xfrm>
            <a:off x="7800746" y="4024274"/>
            <a:ext cx="20025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tính toán giảm giá</a:t>
            </a:r>
            <a:endParaRPr lang="en-US" sz="900" dirty="0"/>
          </a:p>
        </p:txBody>
      </p:sp>
      <p:sp>
        <p:nvSpPr>
          <p:cNvPr id="55" name="Shape 38"/>
          <p:cNvSpPr/>
          <p:nvPr/>
        </p:nvSpPr>
        <p:spPr>
          <a:xfrm>
            <a:off x="7105802" y="4562856"/>
            <a:ext cx="4276649" cy="666598"/>
          </a:xfrm>
          <a:prstGeom prst="roundRect">
            <a:avLst>
              <a:gd name="adj" fmla="val 31354"/>
            </a:avLst>
          </a:prstGeom>
          <a:solidFill>
            <a:srgbClr val="F0F7FF"/>
          </a:solidFill>
          <a:ln w="12700">
            <a:solidFill>
              <a:srgbClr val="E1F5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39"/>
          <p:cNvSpPr/>
          <p:nvPr/>
        </p:nvSpPr>
        <p:spPr>
          <a:xfrm>
            <a:off x="7267651" y="470550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81951" y="4819802"/>
            <a:ext cx="152705" cy="152705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7800746" y="4686300"/>
            <a:ext cx="2546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CustomerType / DayType </a:t>
            </a:r>
            <a:r>
              <a:rPr lang="en-US" sz="800" b="1" dirty="0">
                <a:solidFill>
                  <a:srgbClr val="388E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Enum</a:t>
            </a:r>
            <a:endParaRPr lang="en-US" sz="1100" dirty="0"/>
          </a:p>
        </p:txBody>
      </p:sp>
      <p:sp>
        <p:nvSpPr>
          <p:cNvPr id="59" name="Text 41"/>
          <p:cNvSpPr txBox="1"/>
          <p:nvPr/>
        </p:nvSpPr>
        <p:spPr>
          <a:xfrm>
            <a:off x="7800746" y="4919472"/>
            <a:ext cx="25466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Định nghĩa loại khách &amp; ngày</a:t>
            </a:r>
            <a:endParaRPr lang="en-US" sz="900" dirty="0"/>
          </a:p>
        </p:txBody>
      </p:sp>
      <p:sp>
        <p:nvSpPr>
          <p:cNvPr id="60" name="Shape 42"/>
          <p:cNvSpPr/>
          <p:nvPr/>
        </p:nvSpPr>
        <p:spPr>
          <a:xfrm>
            <a:off x="7105802" y="5458054"/>
            <a:ext cx="4276649" cy="666598"/>
          </a:xfrm>
          <a:prstGeom prst="roundRect">
            <a:avLst>
              <a:gd name="adj" fmla="val 31354"/>
            </a:avLst>
          </a:prstGeom>
          <a:solidFill>
            <a:srgbClr val="F0F7FF"/>
          </a:solidFill>
          <a:ln w="12700">
            <a:solidFill>
              <a:srgbClr val="E1F5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3"/>
          <p:cNvSpPr/>
          <p:nvPr/>
        </p:nvSpPr>
        <p:spPr>
          <a:xfrm>
            <a:off x="7267651" y="56007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7362749" y="5715000"/>
            <a:ext cx="190195" cy="152705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7800746" y="5581498"/>
            <a:ext cx="25264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 / Validate </a:t>
            </a:r>
            <a:r>
              <a:rPr lang="en-US" sz="800" b="1" dirty="0">
                <a:solidFill>
                  <a:srgbClr val="7B1F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</a:t>
            </a:r>
            <a:endParaRPr lang="en-US" sz="1100" dirty="0"/>
          </a:p>
        </p:txBody>
      </p:sp>
      <p:sp>
        <p:nvSpPr>
          <p:cNvPr id="64" name="Text 45"/>
          <p:cNvSpPr txBox="1"/>
          <p:nvPr/>
        </p:nvSpPr>
        <p:spPr>
          <a:xfrm>
            <a:off x="7800746" y="5814670"/>
            <a:ext cx="2890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/checkout/preview, /coupons/validate</a:t>
            </a:r>
            <a:endParaRPr lang="en-US" sz="900" dirty="0"/>
          </a:p>
        </p:txBody>
      </p:sp>
      <p:sp>
        <p:nvSpPr>
          <p:cNvPr id="65" name="Shape 46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7"/>
          <p:cNvSpPr/>
          <p:nvPr/>
        </p:nvSpPr>
        <p:spPr>
          <a:xfrm>
            <a:off x="0" y="656539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85800" y="213970"/>
            <a:ext cx="228600" cy="228600"/>
          </a:xfrm>
          <a:prstGeom prst="rect">
            <a:avLst/>
          </a:prstGeom>
        </p:spPr>
      </p:pic>
      <p:sp>
        <p:nvSpPr>
          <p:cNvPr id="68" name="Text 48"/>
          <p:cNvSpPr txBox="1"/>
          <p:nvPr/>
        </p:nvSpPr>
        <p:spPr>
          <a:xfrm>
            <a:off x="1181405" y="42977"/>
            <a:ext cx="4734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Phạm Vi &amp; Đối Tượng Kiểm Thử</a:t>
            </a:r>
            <a:endParaRPr lang="en-US" sz="2200" dirty="0"/>
          </a:p>
        </p:txBody>
      </p:sp>
      <p:sp>
        <p:nvSpPr>
          <p:cNvPr id="69" name="Text 49"/>
          <p:cNvSpPr txBox="1"/>
          <p:nvPr/>
        </p:nvSpPr>
        <p:spPr>
          <a:xfrm>
            <a:off x="1181405" y="424282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2.2 , 2.3 </a:t>
            </a:r>
            <a:r>
              <a:rPr lang="en-US" sz="10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Tích </a:t>
            </a:r>
            <a:r>
              <a:rPr lang="en-US" sz="10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Yêu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Cầu</a:t>
            </a:r>
            <a:endParaRPr lang="en-US" sz="1000" dirty="0"/>
          </a:p>
        </p:txBody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14"/>
          <a:srcRect t="-17" b="-17"/>
          <a:stretch/>
        </p:blipFill>
        <p:spPr>
          <a:xfrm>
            <a:off x="0" y="0"/>
            <a:ext cx="114300" cy="657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8707" y="4000500"/>
            <a:ext cx="4286707" cy="4286707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39098" y="1238098"/>
            <a:ext cx="2381098" cy="2381098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333195"/>
            <a:ext cx="5333695" cy="5143500"/>
          </a:xfrm>
          <a:prstGeom prst="roundRect">
            <a:avLst>
              <a:gd name="adj" fmla="val 10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288D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5286146" y="1037844"/>
            <a:ext cx="9144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6851" y="2228393"/>
            <a:ext cx="4743907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6851" y="162854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354" y="1762049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6698" y="1714500"/>
            <a:ext cx="256946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3.1 Mục Tiêu Kiểm Thử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2495398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9751" y="2438705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Xác thực logic </a:t>
            </a:r>
            <a:r>
              <a:rPr lang="en-US" sz="1200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PromotionCalculator</a:t>
            </a: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chạy đúng như mô tả. 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2885846"/>
            <a:ext cx="15270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09751" y="2829154"/>
            <a:ext cx="4476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Đảm bảo </a:t>
            </a:r>
            <a:r>
              <a:rPr lang="en-US" sz="12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điều kiện đầu vào</a:t>
            </a: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&amp; </a:t>
            </a:r>
            <a:r>
              <a:rPr lang="en-US" sz="12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kết quả đầu ra</a:t>
            </a: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được xử lý chính xác trong mọi tổ hợp. 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486607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09751" y="3448202"/>
            <a:ext cx="24259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tra chặt chẽ các quy tắc: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362456" y="3696005"/>
            <a:ext cx="1962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Độc quyền Flash Sale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362456" y="3886200"/>
            <a:ext cx="1962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Cộng dồn khuyến mãi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362456" y="4076395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Giới hạn trần tối đa 30%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4466844"/>
            <a:ext cx="152705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09751" y="4410151"/>
            <a:ext cx="4476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Tìm ra lỗi (bug) còn tồn đọng để đảm bảo không thiệt hại tài chính.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5067605"/>
            <a:ext cx="152705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09751" y="5009998"/>
            <a:ext cx="2879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Đạt tỷ lệ Pass </a:t>
            </a:r>
            <a:r>
              <a:rPr lang="en-US" sz="1200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95%</a:t>
            </a:r>
            <a:r>
              <a:rPr lang="en-US" sz="12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sau khi sửa lỗi. 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286500" y="1333195"/>
            <a:ext cx="5333695" cy="5143500"/>
          </a:xfrm>
          <a:prstGeom prst="roundRect">
            <a:avLst>
              <a:gd name="adj" fmla="val 105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288D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6581851" y="2228393"/>
            <a:ext cx="4743907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6581851" y="162854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15354" y="1762049"/>
            <a:ext cx="190195" cy="1901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181698" y="1714500"/>
            <a:ext cx="28154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3.2 Chiến Lược Kiểm Thử</a:t>
            </a:r>
            <a:endParaRPr lang="en-US" sz="15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610198" y="2495398"/>
            <a:ext cx="171907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924751" y="2457907"/>
            <a:ext cx="25392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Table Testing (Chính):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6924751" y="2704795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Dùng cho toàn bộ logic tính toán phức tạp để bao phủ các trường hợp kết hợp.</a:t>
            </a:r>
            <a:endParaRPr lang="en-US" sz="10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601054" y="3286354"/>
            <a:ext cx="190195" cy="15270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924751" y="3247949"/>
            <a:ext cx="2595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Value Analysis (BVA):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6924751" y="3495751"/>
            <a:ext cx="43973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kỹ các mốc tiền nhạy cảm (500k, 1 triệu) và mốc trần 30%.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601054" y="3886200"/>
            <a:ext cx="190195" cy="15270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924751" y="3847795"/>
            <a:ext cx="15983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Testing: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6924751" y="4095598"/>
            <a:ext cx="29699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API Preview và Validate Coupon.</a:t>
            </a:r>
            <a:endParaRPr lang="en-US" sz="10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20256" y="4486046"/>
            <a:ext cx="152705" cy="15270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924751" y="4448556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Testing:</a:t>
            </a:r>
            <a:endParaRPr lang="en-US" sz="1200" dirty="0"/>
          </a:p>
        </p:txBody>
      </p:sp>
      <p:sp>
        <p:nvSpPr>
          <p:cNvPr id="43" name="Text 29"/>
          <p:cNvSpPr txBox="1"/>
          <p:nvPr/>
        </p:nvSpPr>
        <p:spPr>
          <a:xfrm>
            <a:off x="6924751" y="4695444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Chạy lại toàn bộ test suite sau khi fix bug để đảm bảo không phát sinh lỗi mới.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1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5800" y="342900"/>
            <a:ext cx="228600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1181405" y="171907"/>
            <a:ext cx="35323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Tiêu &amp; Chiến Lược</a:t>
            </a:r>
            <a:endParaRPr lang="en-US" sz="2200" dirty="0"/>
          </a:p>
        </p:txBody>
      </p:sp>
      <p:sp>
        <p:nvSpPr>
          <p:cNvPr id="48" name="Text 33"/>
          <p:cNvSpPr txBox="1"/>
          <p:nvPr/>
        </p:nvSpPr>
        <p:spPr>
          <a:xfrm>
            <a:off x="1181405" y="552298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3.1 &amp; 3.2 - Kế Hoạch Kiểm Thử</a:t>
            </a:r>
            <a:endParaRPr lang="en-US" sz="10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028432" y="6495898"/>
            <a:ext cx="3598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Hệ Thống Khuyến Mãi TMĐT | Nguyễn Đăng Khoa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864194" y="6553505"/>
            <a:ext cx="35981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Hệ Thống Khuyến Mãi TMĐT | Nguyễn Đăng Khoa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6402" y="1109168"/>
            <a:ext cx="11239805" cy="5524805"/>
          </a:xfrm>
          <a:prstGeom prst="roundRect">
            <a:avLst>
              <a:gd name="adj" fmla="val 685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5546" y="1104595"/>
          <a:ext cx="11220602" cy="486461"/>
        </p:xfrm>
        <a:graphic>
          <a:graphicData uri="http://schemas.openxmlformats.org/drawingml/2006/table">
            <a:tbl>
              <a:tblPr/>
              <a:tblGrid>
                <a:gridCol w="392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4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THÀNH PHẦN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CHI TIẾT CẤU HÌNH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85546" y="2048256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37844" y="1705356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Hệ điều hành 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35543" r="-35543"/>
          <a:stretch/>
        </p:blipFill>
        <p:spPr>
          <a:xfrm>
            <a:off x="714146" y="1742846"/>
            <a:ext cx="228600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12894" y="1591056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Windows 11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5546" y="2052828"/>
            <a:ext cx="11220602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8"/>
          <p:cNvSpPr/>
          <p:nvPr/>
        </p:nvSpPr>
        <p:spPr>
          <a:xfrm>
            <a:off x="485546" y="2510028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1037844" y="2171700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JDK 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49800" r="-49800"/>
          <a:stretch/>
        </p:blipFill>
        <p:spPr>
          <a:xfrm>
            <a:off x="714146" y="2210105"/>
            <a:ext cx="228600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12894" y="2052828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Java 17 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5546" y="2976372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1037844" y="2638044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Công cụ Build 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6534" r="-16534"/>
          <a:stretch/>
        </p:blipFill>
        <p:spPr>
          <a:xfrm>
            <a:off x="714146" y="2676449"/>
            <a:ext cx="228600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12894" y="2519172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Apache Maven 3.9.x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85546" y="2986430"/>
            <a:ext cx="11220602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85546" y="3443630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1037844" y="3105302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Framework Test 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24850" r="-24850"/>
          <a:stretch/>
        </p:blipFill>
        <p:spPr>
          <a:xfrm>
            <a:off x="714146" y="3143707"/>
            <a:ext cx="228600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12894" y="2986430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JUnit 5.10.x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85546" y="3909974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1037844" y="3571646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IDE 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9880" r="-9880"/>
          <a:stretch/>
        </p:blipFill>
        <p:spPr>
          <a:xfrm>
            <a:off x="714146" y="3610051"/>
            <a:ext cx="228600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412894" y="3452774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IntelliJ IDEA hoặc VS Code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85546" y="3919118"/>
            <a:ext cx="11220602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85546" y="4376318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1037844" y="4038905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Database 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35543" r="-35543"/>
          <a:stretch/>
        </p:blipFill>
        <p:spPr>
          <a:xfrm>
            <a:off x="714146" y="4076395"/>
            <a:ext cx="228600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412894" y="3919118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H2 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485546" y="4843577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 txBox="1"/>
          <p:nvPr/>
        </p:nvSpPr>
        <p:spPr>
          <a:xfrm>
            <a:off x="1037844" y="4505249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Trình duyệt 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24850" r="-24850"/>
          <a:stretch/>
        </p:blipFill>
        <p:spPr>
          <a:xfrm>
            <a:off x="714146" y="4543654"/>
            <a:ext cx="228600" cy="152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412894" y="4386377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Chrome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485546" y="4852721"/>
            <a:ext cx="11220602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485546" y="5309921"/>
            <a:ext cx="11220602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1037844" y="4972507"/>
            <a:ext cx="3268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Source Code </a:t>
            </a:r>
            <a:endParaRPr lang="en-US" sz="12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35543" r="-35543"/>
          <a:stretch/>
        </p:blipFill>
        <p:spPr>
          <a:xfrm>
            <a:off x="714146" y="5009998"/>
            <a:ext cx="228600" cy="152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412894" y="4852721"/>
            <a:ext cx="7372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Git 2.x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3"/>
          <p:cNvSpPr/>
          <p:nvPr/>
        </p:nvSpPr>
        <p:spPr>
          <a:xfrm>
            <a:off x="190195" y="1047902"/>
            <a:ext cx="1429207" cy="1429207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562356" y="295351"/>
            <a:ext cx="286207" cy="2286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086307" y="123444"/>
            <a:ext cx="31290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Môi trường kiểm thử</a:t>
            </a:r>
            <a:endParaRPr lang="en-US" sz="2200" dirty="0"/>
          </a:p>
        </p:txBody>
      </p:sp>
      <p:sp>
        <p:nvSpPr>
          <p:cNvPr id="49" name="Text 37"/>
          <p:cNvSpPr txBox="1"/>
          <p:nvPr/>
        </p:nvSpPr>
        <p:spPr>
          <a:xfrm>
            <a:off x="1086307" y="504749"/>
            <a:ext cx="3129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3.3: Cấu hình Phần cứng và Phần mềm</a:t>
            </a:r>
            <a:endParaRPr lang="en-US" sz="10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t="-89" b="-89"/>
          <a:stretch/>
        </p:blipFill>
        <p:spPr>
          <a:xfrm>
            <a:off x="0" y="0"/>
            <a:ext cx="95098" cy="8193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714146" y="342900"/>
            <a:ext cx="171907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1405" y="171907"/>
            <a:ext cx="26526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Tiêu Chí &amp; Rủi Ro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181405" y="552298"/>
            <a:ext cx="26526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 Hoạch Kiểm Thử (Mục 3.4 - 3.7)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334195" y="4134002"/>
            <a:ext cx="3810305" cy="3810305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905695" y="1143000"/>
            <a:ext cx="1904695" cy="1904695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864194" y="6553505"/>
            <a:ext cx="35981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Hệ Thống Khuyến Mãi TMĐT | Nguyễn Đăng Khoa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1500" y="1333195"/>
            <a:ext cx="5410505" cy="2523744"/>
          </a:xfrm>
          <a:prstGeom prst="roundRect">
            <a:avLst>
              <a:gd name="adj" fmla="val 328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9244" y="2067458"/>
            <a:ext cx="4934102" cy="1920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9244" y="157185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905256" y="1676095"/>
            <a:ext cx="190195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04849" y="1633118"/>
            <a:ext cx="34116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 Bắt Đầu (Entry Criteria)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9244" y="2314346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961949" y="2238451"/>
            <a:ext cx="4036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code đã build thành công, không báo lỗi biên dịch.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09244" y="2609698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961949" y="2533802"/>
            <a:ext cx="4506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Môi trường đã cài đủ Java, Maven và các thư viện dependencies.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2905049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961949" y="2829154"/>
            <a:ext cx="358719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Server khởi chạy thành công ở cổng 8080.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9244" y="3200400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961949" y="3124505"/>
            <a:ext cx="4506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quyết định (Decision Table) và Test Cases đã thiết kế xong.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0605" y="1333195"/>
            <a:ext cx="5410505" cy="2523744"/>
          </a:xfrm>
          <a:prstGeom prst="roundRect">
            <a:avLst>
              <a:gd name="adj" fmla="val 328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448349" y="2067458"/>
            <a:ext cx="4934102" cy="1920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448349" y="157185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6562649" y="1676095"/>
            <a:ext cx="152705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43954" y="1633118"/>
            <a:ext cx="333298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 Kết Thúc (Exit Criteria)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448349" y="231434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6601054" y="2238451"/>
            <a:ext cx="3208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Đã thực thi toàn bộ </a:t>
            </a: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test case</a:t>
            </a: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theo thiết kế.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48349" y="2609698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6601054" y="2533802"/>
            <a:ext cx="4321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Tỷ lệ Pass đạt ít nhất </a:t>
            </a: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96%</a:t>
            </a: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(tối đa 1 case fail chấp nhận được).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448349" y="2905049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601054" y="2829154"/>
            <a:ext cx="42117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lỗi nghiêm trọng (Critical/Major) đã được sửa và re-test.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448349" y="320040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6601054" y="3124505"/>
            <a:ext cx="2936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Hoàn tất báo cáo kiểm thử và báo cáo lỗi.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571500" y="4086454"/>
            <a:ext cx="5410505" cy="2523744"/>
          </a:xfrm>
          <a:prstGeom prst="roundRect">
            <a:avLst>
              <a:gd name="adj" fmla="val 328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809244" y="4819802"/>
            <a:ext cx="4934102" cy="1920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4429354"/>
            <a:ext cx="171907" cy="171907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304849" y="4386377"/>
            <a:ext cx="19833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Rủi Ro &amp; Biện Pháp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961949" y="4990795"/>
            <a:ext cx="4858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 hợp quá lớn (162 cases):</a:t>
            </a: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Sử dụng Bảng quyết định rút gọn để lọc case tiêu biểu.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961949" y="5486400"/>
            <a:ext cx="3915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 chồng chéo:</a:t>
            </a: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Vẽ sơ đồ luồng dữ liệu trước khi test.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61949" y="5781751"/>
            <a:ext cx="34555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H2 reset:</a:t>
            </a: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Viết Unit Test độc lập dữ liệu.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809244" y="6152998"/>
            <a:ext cx="57607" cy="5760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961949" y="6077102"/>
            <a:ext cx="3729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 SAVE10:</a:t>
            </a: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Ưu tiên fix sớm và chạy regression test.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6210605" y="4086454"/>
            <a:ext cx="5410505" cy="2523744"/>
          </a:xfrm>
          <a:prstGeom prst="roundRect">
            <a:avLst>
              <a:gd name="adj" fmla="val 328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6448349" y="4819802"/>
            <a:ext cx="4934102" cy="1920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6448349" y="432419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6562649" y="4429354"/>
            <a:ext cx="152705" cy="171907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943954" y="4386377"/>
            <a:ext cx="3343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Lịch Trình Thực Hiện (Tuần 4-7)</a:t>
            </a:r>
            <a:endParaRPr lang="en-US" sz="130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 t="-402" b="-402"/>
          <a:stretch/>
        </p:blipFill>
        <p:spPr>
          <a:xfrm>
            <a:off x="6638544" y="5524805"/>
            <a:ext cx="4552798" cy="19202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6561734" y="5391302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/>
          <p:nvPr/>
        </p:nvSpPr>
        <p:spPr>
          <a:xfrm>
            <a:off x="6533388" y="5391302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W4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6399886" y="5753405"/>
            <a:ext cx="6126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Tích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6534302" y="5924398"/>
            <a:ext cx="342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8068666" y="5391302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/>
          <p:nvPr/>
        </p:nvSpPr>
        <p:spPr>
          <a:xfrm>
            <a:off x="8040319" y="5391302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W5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7958023" y="5753405"/>
            <a:ext cx="510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Thiết Kế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7960766" y="5924398"/>
            <a:ext cx="51023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Case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9546336" y="5391302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/>
          <p:nvPr/>
        </p:nvSpPr>
        <p:spPr>
          <a:xfrm>
            <a:off x="9517990" y="5391302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W6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9420149" y="5753405"/>
            <a:ext cx="5440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Thực Thi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9466783" y="5924398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Test</a:t>
            </a:r>
            <a:endParaRPr lang="en-US" sz="800" dirty="0"/>
          </a:p>
        </p:txBody>
      </p:sp>
      <p:sp>
        <p:nvSpPr>
          <p:cNvPr id="66" name="Shape 57"/>
          <p:cNvSpPr/>
          <p:nvPr/>
        </p:nvSpPr>
        <p:spPr>
          <a:xfrm>
            <a:off x="11024921" y="5391302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8"/>
          <p:cNvSpPr/>
          <p:nvPr/>
        </p:nvSpPr>
        <p:spPr>
          <a:xfrm>
            <a:off x="10996574" y="5391302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8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W7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10913364" y="5753405"/>
            <a:ext cx="510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Báo Cáo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10988345" y="5924398"/>
            <a:ext cx="362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333195"/>
            <a:ext cx="3486607" cy="51435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288D1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9244" y="2181758"/>
            <a:ext cx="3010205" cy="9144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9244" y="157185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929030" y="1705356"/>
            <a:ext cx="219456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9149" y="1594714"/>
            <a:ext cx="1714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Phân Vùng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Tương Đương (EP)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2381098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Chia các giá trị đầu vào thành các nhóm có cách xử lý giống nhau.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9244" y="2980944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00354" y="2915107"/>
            <a:ext cx="28959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số vùng:</a:t>
            </a: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~15 vùng (Hợp lệ &amp; Không hợp lệ).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" y="3543300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00354" y="3476549"/>
            <a:ext cx="17574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vùng Input chính: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1949" y="3824021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Order Value (&lt; 500k, 500-1M, &gt; 1M) 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61949" y="4172407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Customer Type (Guest, Member, VIP) 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61949" y="4519879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Coupon (None, Valid, Expired) 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9244" y="5900623"/>
            <a:ext cx="3010205" cy="342900"/>
          </a:xfrm>
          <a:prstGeom prst="roundRect">
            <a:avLst>
              <a:gd name="adj" fmla="val 59259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9244" y="5900623"/>
            <a:ext cx="28346" cy="342900"/>
          </a:xfrm>
          <a:prstGeom prst="roundRect">
            <a:avLst>
              <a:gd name="adj" fmla="val 716856"/>
            </a:avLst>
          </a:prstGeom>
          <a:solidFill>
            <a:srgbClr val="0288D1"/>
          </a:solidFill>
          <a:ln w="12700">
            <a:solidFill>
              <a:srgbClr val="0288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144829" y="5900623"/>
            <a:ext cx="275051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1579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Giảm thiểu số lượng test case lặp lại. 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56202" y="1333195"/>
            <a:ext cx="3486607" cy="51435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288D1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93946" y="2181758"/>
            <a:ext cx="3010205" cy="9144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93946" y="157185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27448" y="1705356"/>
            <a:ext cx="190195" cy="19019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03850" y="1594714"/>
            <a:ext cx="164500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B. Phân Tích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Biên (BVA)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593946" y="2381098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Tập trung kiểm tra tại các điểm ranh giới (biên) nơi dễ xảy ra lỗi nhất.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93946" y="2980944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4785055" y="2915107"/>
            <a:ext cx="19156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mốc tiền quan trọng: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4746650" y="3262579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500,000 VNĐ (Mốc giảm 5%) 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746650" y="3610051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1,000,000 VNĐ (Mốc giảm 10%) 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93946" y="4024274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785055" y="3957523"/>
            <a:ext cx="1723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Giới hạn trần giảm giá: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746650" y="4304995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Max Cap = 30% (Chặn trên) 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593946" y="5900623"/>
            <a:ext cx="3010205" cy="342900"/>
          </a:xfrm>
          <a:prstGeom prst="roundRect">
            <a:avLst>
              <a:gd name="adj" fmla="val 59259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593946" y="5900623"/>
            <a:ext cx="28346" cy="342900"/>
          </a:xfrm>
          <a:prstGeom prst="roundRect">
            <a:avLst>
              <a:gd name="adj" fmla="val 716856"/>
            </a:avLst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4929530" y="5900623"/>
            <a:ext cx="275051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Kiểm tra lỗi "Off-by-one" (sai lệch 1 đơn vị). 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140903" y="1333195"/>
            <a:ext cx="3486607" cy="51435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288D1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8378647" y="2181758"/>
            <a:ext cx="3010205" cy="9144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8378647" y="157185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12150" y="1705356"/>
            <a:ext cx="190195" cy="19019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8988552" y="1594714"/>
            <a:ext cx="10863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C. Bảng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Quyết Định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378647" y="2381098"/>
            <a:ext cx="30861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chính để xử lý logic phức tạp với nhiều điều kiện kết hợp.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378647" y="2980944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 txBox="1"/>
          <p:nvPr/>
        </p:nvSpPr>
        <p:spPr>
          <a:xfrm>
            <a:off x="8568842" y="2915107"/>
            <a:ext cx="28959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Điều kiện đầu vào (Inputs):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C1-C5 (Giá trị, Khách, Ngày, Coupon, Flash Sale).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378647" y="3757270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8568842" y="3690518"/>
            <a:ext cx="22201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Kết quả đầu ra (Outputs):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A1-A6 (Các mức giảm giá cụ thể).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8378647" y="4319626"/>
            <a:ext cx="75895" cy="75895"/>
          </a:xfrm>
          <a:prstGeom prst="ellipse">
            <a:avLst/>
          </a:prstGeom>
          <a:solidFill>
            <a:srgbClr val="4FC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8568842" y="4252874"/>
            <a:ext cx="28959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Tối ưu hóa:</a:t>
            </a: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Rút gọn từ 162 trường hợp lý thuyết xuống các case tiêu biểu nhất.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378647" y="5900623"/>
            <a:ext cx="3010205" cy="342900"/>
          </a:xfrm>
          <a:prstGeom prst="roundRect">
            <a:avLst>
              <a:gd name="adj" fmla="val 59259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8378647" y="5900623"/>
            <a:ext cx="28346" cy="342900"/>
          </a:xfrm>
          <a:prstGeom prst="roundRect">
            <a:avLst>
              <a:gd name="adj" fmla="val 716856"/>
            </a:avLst>
          </a:prstGeom>
          <a:solidFill>
            <a:srgbClr val="7CB342"/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 txBox="1"/>
          <p:nvPr/>
        </p:nvSpPr>
        <p:spPr>
          <a:xfrm>
            <a:off x="8733434" y="5900623"/>
            <a:ext cx="2731313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69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Bao phủ tốt các logic chồng chéo. </a:t>
            </a:r>
            <a:endParaRPr lang="en-US" sz="900" dirty="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805" y="6002122"/>
            <a:ext cx="123444" cy="123444"/>
          </a:xfrm>
          <a:prstGeom prst="rect">
            <a:avLst/>
          </a:prstGeom>
        </p:spPr>
      </p:pic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37506" y="6002122"/>
            <a:ext cx="123444" cy="123444"/>
          </a:xfrm>
          <a:prstGeom prst="rect">
            <a:avLst/>
          </a:prstGeom>
        </p:spPr>
      </p:pic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521294" y="6002122"/>
            <a:ext cx="142646" cy="123444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9324898" y="4000500"/>
            <a:ext cx="3810305" cy="3810305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9905695" y="1143000"/>
            <a:ext cx="1904695" cy="1904695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657454" y="342900"/>
            <a:ext cx="286207" cy="228600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1181405" y="171907"/>
            <a:ext cx="427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Kỹ Thuật Kiểm Thử Hộp Đen</a:t>
            </a:r>
            <a:endParaRPr lang="en-US" sz="2200" dirty="0"/>
          </a:p>
        </p:txBody>
      </p:sp>
      <p:sp>
        <p:nvSpPr>
          <p:cNvPr id="61" name="Text 52"/>
          <p:cNvSpPr txBox="1"/>
          <p:nvPr/>
        </p:nvSpPr>
        <p:spPr>
          <a:xfrm>
            <a:off x="1181405" y="552298"/>
            <a:ext cx="37947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4.1: Các phương pháp thiết kế ca kiểm thử</a:t>
            </a:r>
            <a:endParaRPr lang="en-US" sz="1000" dirty="0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6402" y="1095451"/>
            <a:ext cx="11239805" cy="5524805"/>
          </a:xfrm>
          <a:prstGeom prst="roundRect">
            <a:avLst>
              <a:gd name="adj" fmla="val 685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5546" y="1104595"/>
          <a:ext cx="11220602" cy="448056"/>
        </p:xfrm>
        <a:graphic>
          <a:graphicData uri="http://schemas.openxmlformats.org/drawingml/2006/table">
            <a:tbl>
              <a:tblPr/>
              <a:tblGrid>
                <a:gridCol w="1121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5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 ID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GIÁ TRỊ BIÊN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MÔ TẢ / ĐIỀU KIỆN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KẾT QUẢ MONG ĐỢI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79B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TRẠNG THÁI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5546" y="1552651"/>
          <a:ext cx="11220602" cy="4200750"/>
        </p:xfrm>
        <a:graphic>
          <a:graphicData uri="http://schemas.openxmlformats.org/drawingml/2006/table">
            <a:tbl>
              <a:tblPr/>
              <a:tblGrid>
                <a:gridCol w="1121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5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BVA-01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499,999 đ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Sát dưới mốc 500k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0% (Không giảm)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BVA-02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500,000 đ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Ngay tại mốc 500k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5% Order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BVA-03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500,001 đ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Sát trên mốc 500k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5% Order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BVA-04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999,999 đ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Sát dưới mốc 1 triệu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5% Order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BVA-05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1,000,000 đ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Ngay tại mốc 1 triệu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5% Order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BVA-06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1,000,001 đ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Sát trên mốc 1 triệu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10% Order Discount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BVA-07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Total = 29%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Dưới trần giới hạn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Giữ nguyên 29%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BVA-08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Total = 30%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Chạm trần giới hạn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Giữ nguyên 30%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0277B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BVA-09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55A6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Total = 31%</a:t>
                      </a:r>
                      <a:endParaRPr lang="en-US" sz="1125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Vượt trần giới hạn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455A64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Cắt về tối đa 30%</a:t>
                      </a:r>
                      <a:endParaRPr lang="en-US" sz="112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PASS</a:t>
                      </a:r>
                      <a:endParaRPr lang="en-US" sz="1200" dirty="0"/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0195" y="1047902"/>
            <a:ext cx="1429207" cy="1429207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562356" y="295351"/>
            <a:ext cx="286207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18128" y="252374"/>
            <a:ext cx="43214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Giá</a:t>
            </a: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Trị</a:t>
            </a: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Biên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89" b="-89"/>
          <a:stretch/>
        </p:blipFill>
        <p:spPr>
          <a:xfrm>
            <a:off x="0" y="0"/>
            <a:ext cx="95098" cy="819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20402" y="4286707"/>
            <a:ext cx="3333902" cy="3333902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381305" y="2095805"/>
            <a:ext cx="1429207" cy="1429207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143000"/>
            <a:ext cx="11048695" cy="36576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" y="1152144"/>
          <a:ext cx="11009376" cy="363931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1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6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2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C1: Giá trị đơn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C2: Khách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C3: Ngày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C4: Coupon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C5: Flash Sale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A1-A5 (Details)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277BD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TỔNG GIẢM</a:t>
                      </a:r>
                      <a:endParaRPr lang="en-US" sz="10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TC1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&lt; 500K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GUEST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NORMAL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-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TC2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500K - 1M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GUEST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NORMAL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Order 5%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5%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TC3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&gt;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GUEST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NORMAL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Order 10%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10%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TC4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&gt;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MEMBER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NORMAL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10% + 3%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13%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TC5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&gt;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7B1FA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VIP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NORMAL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10% + 8%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18%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9CA3A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TC7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&gt;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7B1FA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VIP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HOLIDAY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10% + 8% + 5%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23%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TC8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&gt;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7B1FA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VIP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HOLIDAY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Có (10%)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Total calculated: 33%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30% </a:t>
                      </a:r>
                      <a:r>
                        <a:rPr lang="en-US" sz="900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(CAPPED)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TC9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&gt; 1M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7B1FA2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VIP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HOLIDAY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Có (10%)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C62828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047857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Flash Sale Exclusive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15%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TC10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&lt; 500K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GUEST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NORMAL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37474F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Không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C62828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047857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Flash Sale Exclusive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15%</a:t>
                      </a:r>
                      <a:endParaRPr lang="en-US" sz="975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3E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2" b="-12"/>
          <a:stretch/>
        </p:blipFill>
        <p:spPr>
          <a:xfrm>
            <a:off x="571500" y="4938674"/>
            <a:ext cx="11048695" cy="7050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6148" y="5071718"/>
            <a:ext cx="3791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 Cap 30%: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Tổng giảm giá cộng dồn không được vượt quá 30%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4971898" y="5071718"/>
            <a:ext cx="4886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 Sale Exclusive: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Nếu là Flash Sale, giảm cố định 15%, bỏ qua mọi ưu </a:t>
            </a:r>
            <a:r>
              <a:rPr lang="en-US" sz="1000" dirty="0" err="1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đãi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khác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4290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81405" y="171907"/>
            <a:ext cx="3871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Table Highlights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1181405" y="552298"/>
            <a:ext cx="38715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Bảng Quyết Định Rút </a:t>
            </a:r>
            <a:r>
              <a:rPr lang="en-US" sz="10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Gọn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0195" y="1047902"/>
            <a:ext cx="1429207" cy="1429207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5158" y="1183956"/>
            <a:ext cx="7204060" cy="5137484"/>
          </a:xfrm>
          <a:prstGeom prst="roundRect">
            <a:avLst>
              <a:gd name="adj" fmla="val 709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6726" y="1152144"/>
            <a:ext cx="7161918" cy="437998"/>
          </a:xfrm>
          <a:prstGeom prst="roundRect">
            <a:avLst>
              <a:gd name="adj" fmla="val 108922"/>
            </a:avLst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5546" y="1570939"/>
            <a:ext cx="2438705" cy="19202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5546" y="1152144"/>
            <a:ext cx="25146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1579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Nhóm Test Case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18765" y="1570939"/>
            <a:ext cx="1742846" cy="19202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918765" y="1152144"/>
            <a:ext cx="181325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1579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 Range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6125" y="1570939"/>
            <a:ext cx="1047902" cy="19202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56125" y="1152144"/>
            <a:ext cx="11055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1579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Số lượng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99455" y="1570939"/>
            <a:ext cx="1742846" cy="19202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699455" y="1152144"/>
            <a:ext cx="181325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1579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Kết Quả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5546" y="2058314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5546" y="1591056"/>
            <a:ext cx="2514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1. Order Value Discount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18765" y="1591056"/>
            <a:ext cx="181325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TC001 - TC003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56125" y="1591056"/>
            <a:ext cx="11055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28309" y="1591056"/>
            <a:ext cx="1384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PASS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975604" y="1772107"/>
            <a:ext cx="105156" cy="1143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85546" y="2061972"/>
            <a:ext cx="6953098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85546" y="2519172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85546" y="2067458"/>
            <a:ext cx="25146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2. Customer Type Discount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918765" y="2061972"/>
            <a:ext cx="181325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TC004 - TC006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56125" y="2061972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128309" y="2061972"/>
            <a:ext cx="13844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PASS</a:t>
            </a:r>
            <a:endParaRPr lang="en-US" sz="11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975604" y="2238451"/>
            <a:ext cx="105156" cy="1143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85546" y="2986430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485546" y="2529230"/>
            <a:ext cx="25146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3. Day Type Discount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2918765" y="2529230"/>
            <a:ext cx="181325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TC007 - TC009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656125" y="2529230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128309" y="2529230"/>
            <a:ext cx="13844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PASS</a:t>
            </a:r>
            <a:endParaRPr lang="en-US" sz="11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975604" y="2704795"/>
            <a:ext cx="105156" cy="11430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85546" y="2995574"/>
            <a:ext cx="6953098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485546" y="3452774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485546" y="2995574"/>
            <a:ext cx="25146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4. Coupon Discount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2918765" y="2995574"/>
            <a:ext cx="181325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TC010 - TC012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4656125" y="2995574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6109106" y="2995574"/>
            <a:ext cx="140360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6282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FAIL (1)</a:t>
            </a:r>
            <a:endParaRPr lang="en-US" sz="11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5975604" y="3172054"/>
            <a:ext cx="85954" cy="11430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485546" y="3919118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485546" y="3461918"/>
            <a:ext cx="25146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5. Flash Sale Discount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2918765" y="3461918"/>
            <a:ext cx="181325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TC013 - TC014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4656125" y="3461918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6128309" y="3461918"/>
            <a:ext cx="13844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PASS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975604" y="3638398"/>
            <a:ext cx="105156" cy="11430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485546" y="3929177"/>
            <a:ext cx="6953098" cy="46634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485546" y="4386377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 txBox="1"/>
          <p:nvPr/>
        </p:nvSpPr>
        <p:spPr>
          <a:xfrm>
            <a:off x="485546" y="3929177"/>
            <a:ext cx="25146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6. Overlap Rules (Chồng chéo)</a:t>
            </a:r>
            <a:endParaRPr lang="en-US" sz="1100" dirty="0"/>
          </a:p>
        </p:txBody>
      </p:sp>
      <p:sp>
        <p:nvSpPr>
          <p:cNvPr id="52" name="Text 45"/>
          <p:cNvSpPr txBox="1"/>
          <p:nvPr/>
        </p:nvSpPr>
        <p:spPr>
          <a:xfrm>
            <a:off x="2918765" y="3929177"/>
            <a:ext cx="181325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TC015 - TC020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4656125" y="3929177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47"/>
          <p:cNvSpPr txBox="1"/>
          <p:nvPr/>
        </p:nvSpPr>
        <p:spPr>
          <a:xfrm>
            <a:off x="6128309" y="3929177"/>
            <a:ext cx="13844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PASS</a:t>
            </a:r>
            <a:endParaRPr lang="en-US" sz="11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975604" y="4105656"/>
            <a:ext cx="105156" cy="114300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485546" y="4852721"/>
            <a:ext cx="6953098" cy="9144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 txBox="1"/>
          <p:nvPr/>
        </p:nvSpPr>
        <p:spPr>
          <a:xfrm>
            <a:off x="485546" y="4395521"/>
            <a:ext cx="25146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7. Boundary Value Analysis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2918765" y="4395521"/>
            <a:ext cx="181325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TC021 - TC030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4656125" y="4395521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</a:t>
            </a:r>
            <a:endParaRPr lang="en-US" sz="1100" dirty="0"/>
          </a:p>
        </p:txBody>
      </p:sp>
      <p:sp>
        <p:nvSpPr>
          <p:cNvPr id="60" name="Text 52"/>
          <p:cNvSpPr txBox="1"/>
          <p:nvPr/>
        </p:nvSpPr>
        <p:spPr>
          <a:xfrm>
            <a:off x="6128309" y="4395521"/>
            <a:ext cx="13844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PASS</a:t>
            </a:r>
            <a:endParaRPr lang="en-US" sz="1100" dirty="0"/>
          </a:p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975604" y="4572000"/>
            <a:ext cx="105156" cy="114300"/>
          </a:xfrm>
          <a:prstGeom prst="rect">
            <a:avLst/>
          </a:prstGeom>
        </p:spPr>
      </p:pic>
      <p:sp>
        <p:nvSpPr>
          <p:cNvPr id="62" name="Shape 53"/>
          <p:cNvSpPr/>
          <p:nvPr/>
        </p:nvSpPr>
        <p:spPr>
          <a:xfrm>
            <a:off x="7732166" y="1143000"/>
            <a:ext cx="1238098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 txBox="1"/>
          <p:nvPr/>
        </p:nvSpPr>
        <p:spPr>
          <a:xfrm>
            <a:off x="8117129" y="1295705"/>
            <a:ext cx="4672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400" dirty="0"/>
          </a:p>
        </p:txBody>
      </p:sp>
      <p:sp>
        <p:nvSpPr>
          <p:cNvPr id="64" name="Text 55"/>
          <p:cNvSpPr txBox="1"/>
          <p:nvPr/>
        </p:nvSpPr>
        <p:spPr>
          <a:xfrm>
            <a:off x="8072323" y="1647749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TC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9107424" y="1143000"/>
            <a:ext cx="1238098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57"/>
          <p:cNvSpPr txBox="1"/>
          <p:nvPr/>
        </p:nvSpPr>
        <p:spPr>
          <a:xfrm>
            <a:off x="9498787" y="1295705"/>
            <a:ext cx="457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2400" dirty="0"/>
          </a:p>
        </p:txBody>
      </p:sp>
      <p:sp>
        <p:nvSpPr>
          <p:cNvPr id="67" name="Text 58"/>
          <p:cNvSpPr txBox="1"/>
          <p:nvPr/>
        </p:nvSpPr>
        <p:spPr>
          <a:xfrm>
            <a:off x="9545422" y="1647749"/>
            <a:ext cx="362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</a:t>
            </a:r>
            <a:endParaRPr lang="en-US" sz="900" dirty="0"/>
          </a:p>
        </p:txBody>
      </p:sp>
      <p:sp>
        <p:nvSpPr>
          <p:cNvPr id="68" name="Shape 59"/>
          <p:cNvSpPr/>
          <p:nvPr/>
        </p:nvSpPr>
        <p:spPr>
          <a:xfrm>
            <a:off x="10483596" y="1143000"/>
            <a:ext cx="1238098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0"/>
          <p:cNvSpPr txBox="1"/>
          <p:nvPr/>
        </p:nvSpPr>
        <p:spPr>
          <a:xfrm>
            <a:off x="11001146" y="1295705"/>
            <a:ext cx="200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70" name="Text 61"/>
          <p:cNvSpPr txBox="1"/>
          <p:nvPr/>
        </p:nvSpPr>
        <p:spPr>
          <a:xfrm>
            <a:off x="10949026" y="1647749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7732166" y="5701284"/>
            <a:ext cx="3991356" cy="875995"/>
          </a:xfrm>
          <a:prstGeom prst="roundRect">
            <a:avLst>
              <a:gd name="adj" fmla="val 9077"/>
            </a:avLst>
          </a:prstGeom>
          <a:solidFill>
            <a:srgbClr val="FFF3E0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3"/>
          <p:cNvSpPr/>
          <p:nvPr/>
        </p:nvSpPr>
        <p:spPr>
          <a:xfrm>
            <a:off x="7732166" y="5701284"/>
            <a:ext cx="47549" cy="875995"/>
          </a:xfrm>
          <a:prstGeom prst="roundRect">
            <a:avLst>
              <a:gd name="adj" fmla="val 167223"/>
            </a:avLst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4"/>
          <p:cNvSpPr txBox="1"/>
          <p:nvPr/>
        </p:nvSpPr>
        <p:spPr>
          <a:xfrm>
            <a:off x="8132674" y="5844845"/>
            <a:ext cx="3562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Vấn đề nổi bật (Notable Issue) </a:t>
            </a:r>
            <a:endParaRPr lang="en-US" sz="1000" dirty="0"/>
          </a:p>
        </p:txBody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23276" y="5877763"/>
            <a:ext cx="133502" cy="133502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7923276" y="6082589"/>
            <a:ext cx="37344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TC011 Failed:</a:t>
            </a:r>
            <a:r>
              <a:rPr lang="en-US" sz="900" dirty="0">
                <a:solidFill>
                  <a:srgbClr val="5D40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Mã coupon "SAVE10" không áp dụng đúng mức giảm giá 10% (System trả về 0%). Đã log bug </a:t>
            </a:r>
            <a:r>
              <a:rPr lang="en-US" sz="900" b="1" dirty="0">
                <a:solidFill>
                  <a:srgbClr val="5D40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BUG-001</a:t>
            </a:r>
            <a:r>
              <a:rPr lang="en-US" sz="900" dirty="0">
                <a:solidFill>
                  <a:srgbClr val="5D40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900" dirty="0"/>
          </a:p>
        </p:txBody>
      </p:sp>
      <p:sp>
        <p:nvSpPr>
          <p:cNvPr id="76" name="Shape 66"/>
          <p:cNvSpPr/>
          <p:nvPr/>
        </p:nvSpPr>
        <p:spPr>
          <a:xfrm>
            <a:off x="7732166" y="2162556"/>
            <a:ext cx="3991356" cy="3353105"/>
          </a:xfrm>
          <a:prstGeom prst="roundRect">
            <a:avLst>
              <a:gd name="adj" fmla="val 1859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67"/>
          <p:cNvSpPr txBox="1"/>
          <p:nvPr/>
        </p:nvSpPr>
        <p:spPr>
          <a:xfrm>
            <a:off x="9078163" y="2713025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Tỷ Lệ Đạt (Pass Rate)</a:t>
            </a:r>
            <a:endParaRPr lang="en-US" sz="1000" dirty="0"/>
          </a:p>
        </p:txBody>
      </p:sp>
      <p:pic>
        <p:nvPicPr>
          <p:cNvPr id="78" name="Image 8" descr="preencoded.png"/>
          <p:cNvPicPr>
            <a:picLocks noChangeAspect="1"/>
          </p:cNvPicPr>
          <p:nvPr/>
        </p:nvPicPr>
        <p:blipFill>
          <a:blip r:embed="rId6"/>
          <a:srcRect l="-140" r="-140"/>
          <a:stretch/>
        </p:blipFill>
        <p:spPr>
          <a:xfrm>
            <a:off x="7932420" y="3055925"/>
            <a:ext cx="3590849" cy="1904695"/>
          </a:xfrm>
          <a:prstGeom prst="rect">
            <a:avLst/>
          </a:prstGeom>
        </p:spPr>
      </p:pic>
      <p:sp>
        <p:nvSpPr>
          <p:cNvPr id="79" name="Text 68"/>
          <p:cNvSpPr txBox="1"/>
          <p:nvPr/>
        </p:nvSpPr>
        <p:spPr>
          <a:xfrm>
            <a:off x="9410090" y="5044745"/>
            <a:ext cx="734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96.7%</a:t>
            </a:r>
            <a:endParaRPr lang="en-US" sz="1800" dirty="0"/>
          </a:p>
        </p:txBody>
      </p:sp>
      <p:sp>
        <p:nvSpPr>
          <p:cNvPr id="80" name="Shape 69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0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576072" y="295351"/>
            <a:ext cx="256946" cy="228600"/>
          </a:xfrm>
          <a:prstGeom prst="rect">
            <a:avLst/>
          </a:prstGeom>
        </p:spPr>
      </p:pic>
      <p:sp>
        <p:nvSpPr>
          <p:cNvPr id="83" name="Text 71"/>
          <p:cNvSpPr txBox="1"/>
          <p:nvPr/>
        </p:nvSpPr>
        <p:spPr>
          <a:xfrm>
            <a:off x="1086307" y="123444"/>
            <a:ext cx="43214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 Kết Quả Kiểm Thử</a:t>
            </a:r>
            <a:endParaRPr lang="en-US" sz="2200" dirty="0"/>
          </a:p>
        </p:txBody>
      </p:sp>
      <p:sp>
        <p:nvSpPr>
          <p:cNvPr id="84" name="Text 72"/>
          <p:cNvSpPr txBox="1"/>
          <p:nvPr/>
        </p:nvSpPr>
        <p:spPr>
          <a:xfrm>
            <a:off x="1086307" y="504749"/>
            <a:ext cx="4321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4.3: Bảng tổng hợp 30 Test Case và Kết Quả Thực Thi</a:t>
            </a:r>
            <a:endParaRPr lang="en-US" sz="1000" dirty="0"/>
          </a:p>
        </p:txBody>
      </p:sp>
      <p:pic>
        <p:nvPicPr>
          <p:cNvPr id="85" name="Image 10" descr="preencoded.png"/>
          <p:cNvPicPr>
            <a:picLocks noChangeAspect="1"/>
          </p:cNvPicPr>
          <p:nvPr/>
        </p:nvPicPr>
        <p:blipFill>
          <a:blip r:embed="rId8"/>
          <a:srcRect t="-89" b="-89"/>
          <a:stretch/>
        </p:blipFill>
        <p:spPr>
          <a:xfrm>
            <a:off x="0" y="0"/>
            <a:ext cx="95098" cy="8193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E1F5FE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0" y="1143000"/>
            <a:ext cx="8572500" cy="8572500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34195" y="952805"/>
            <a:ext cx="1429207" cy="1429207"/>
          </a:xfrm>
          <a:prstGeom prst="ellipse">
            <a:avLst/>
          </a:prstGeom>
          <a:solidFill>
            <a:srgbClr val="B3E5FC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29207" y="5143500"/>
            <a:ext cx="761695" cy="761695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2438705" y="1371600"/>
            <a:ext cx="381305" cy="381305"/>
          </a:xfrm>
          <a:prstGeom prst="rect">
            <a:avLst/>
          </a:prstGeom>
          <a:noFill/>
          <a:ln w="254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58707" y="4515307"/>
            <a:ext cx="286207" cy="286207"/>
          </a:xfrm>
          <a:prstGeom prst="ellips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32858" y="0"/>
            <a:ext cx="2129638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288D1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2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2463394"/>
            <a:ext cx="3340303" cy="191475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241194" y="2729484"/>
            <a:ext cx="571500" cy="571500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2408530" y="2882189"/>
            <a:ext cx="237744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39850" y="3415284"/>
            <a:ext cx="19805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3749040"/>
            <a:ext cx="29626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chức năng chính: Core discounts, quy tắc Overlap, và Max Cap 30%.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425696" y="2463394"/>
            <a:ext cx="3340303" cy="191475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810098" y="2729484"/>
            <a:ext cx="571500" cy="571500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28970" y="2882189"/>
            <a:ext cx="333756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75834" y="3415284"/>
            <a:ext cx="20409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616806" y="3749040"/>
            <a:ext cx="29626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API xem trước (preview) và xác thực mã giảm giá (validate coupon).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994599" y="2463394"/>
            <a:ext cx="3340303" cy="191475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379001" y="2729484"/>
            <a:ext cx="571500" cy="571500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9512503" y="2882189"/>
            <a:ext cx="30449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893454" y="3415284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8184794" y="3749040"/>
            <a:ext cx="29626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hệ thống End-to-End: Luồng tính giá hoàn chỉnh.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2628900" y="4605833"/>
            <a:ext cx="3353105" cy="191475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019702" y="4872838"/>
            <a:ext cx="571500" cy="571500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72407" y="5025542"/>
            <a:ext cx="267005" cy="2670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317443" y="5558638"/>
            <a:ext cx="198241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2819095" y="5892394"/>
            <a:ext cx="29718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Chạy lại kiểm thử hồi quy sau khi sửa lỗi để đảm bảo tính ổn định.</a:t>
            </a:r>
            <a:endParaRPr lang="en-US" sz="10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rcRect t="-1" b="-1"/>
          <a:stretch/>
        </p:blipFill>
        <p:spPr>
          <a:xfrm>
            <a:off x="6210605" y="4605833"/>
            <a:ext cx="3353105" cy="1914754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7601407" y="4872838"/>
            <a:ext cx="571500" cy="5715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l="-685" r="-685"/>
          <a:stretch/>
        </p:blipFill>
        <p:spPr>
          <a:xfrm>
            <a:off x="7733995" y="5025542"/>
            <a:ext cx="304495" cy="26700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7007047" y="5558638"/>
            <a:ext cx="176662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Thống Kê Kết Quả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7161581" y="5892394"/>
            <a:ext cx="1457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Tổng số: </a:t>
            </a:r>
            <a:r>
              <a:rPr lang="en-US" sz="1000" b="1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Test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Tỷ lệ Pass: </a:t>
            </a:r>
            <a:r>
              <a:rPr lang="en-US" sz="10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96%</a:t>
            </a:r>
            <a:endParaRPr lang="en-US" sz="10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 l="-50" r="-50"/>
          <a:stretch/>
        </p:blipFill>
        <p:spPr>
          <a:xfrm>
            <a:off x="5539435" y="571500"/>
            <a:ext cx="1114654" cy="381305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511089" y="571500"/>
            <a:ext cx="1172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5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761695" y="1104595"/>
            <a:ext cx="10668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THỰC THI KIỂM THỬ</a:t>
            </a:r>
            <a:endParaRPr lang="en-US" sz="36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3"/>
          <a:srcRect l="-96" r="-96"/>
          <a:stretch/>
        </p:blipFill>
        <p:spPr>
          <a:xfrm>
            <a:off x="5619902" y="1844345"/>
            <a:ext cx="952805" cy="475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657454" y="342900"/>
            <a:ext cx="286207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1405" y="171907"/>
            <a:ext cx="4944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Tự Động &amp; Báo Cáo Lỗi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181405" y="552298"/>
            <a:ext cx="4372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6 &amp; Phần 7: Automation Testing và Bug Report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1500" y="1238098"/>
            <a:ext cx="5333695" cy="5333695"/>
          </a:xfrm>
          <a:prstGeom prst="roundRect">
            <a:avLst>
              <a:gd name="adj" fmla="val 7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09244" y="2067458"/>
            <a:ext cx="4858207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9244" y="148590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8972" y="1619402"/>
            <a:ext cx="237744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9149" y="1476756"/>
            <a:ext cx="3372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419149" y="1666951"/>
            <a:ext cx="353964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Thử Tự Động (Automation)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09244" y="2391156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Cụ &amp; Lý Do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09244" y="2734056"/>
            <a:ext cx="105156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9498" y="2695651"/>
            <a:ext cx="5267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Công cụ: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Sử dụng JUnit 5 kết hợp Maven để quản lý dependency và chạy test.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09244" y="3029407"/>
            <a:ext cx="105156" cy="1143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9498" y="2991002"/>
            <a:ext cx="46579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Lý do lựa chọn:</a:t>
            </a: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Tự động hóa quy trình, dễ dàng tái sử dụng (Regression Test), và hỗ trợ tích hợp CI/CD sau này.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809244" y="3504895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Thực Thi &amp; Kết Quả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-1911" r="-1911"/>
          <a:stretch/>
        </p:blipFill>
        <p:spPr>
          <a:xfrm>
            <a:off x="809244" y="3847795"/>
            <a:ext cx="133502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37844" y="3810305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Lệnh chạy test script: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809244" y="4105656"/>
            <a:ext cx="4781398" cy="599846"/>
          </a:xfrm>
          <a:prstGeom prst="roundRect">
            <a:avLst>
              <a:gd name="adj" fmla="val 29036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809244" y="4105656"/>
            <a:ext cx="38405" cy="599846"/>
          </a:xfrm>
          <a:prstGeom prst="roundRect">
            <a:avLst>
              <a:gd name="adj" fmla="val 453512"/>
            </a:avLst>
          </a:prstGeom>
          <a:solidFill>
            <a:srgbClr val="0288D1"/>
          </a:solidFill>
          <a:ln w="12700">
            <a:solidFill>
              <a:srgbClr val="0288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 txBox="1"/>
          <p:nvPr/>
        </p:nvSpPr>
        <p:spPr>
          <a:xfrm>
            <a:off x="809244" y="4105656"/>
            <a:ext cx="4858207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mvn test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[INFO] Tests run: 30, Failures: 1, Errors: 0, Skipped: 0 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6286500" y="1238098"/>
            <a:ext cx="5333695" cy="5333695"/>
          </a:xfrm>
          <a:prstGeom prst="roundRect">
            <a:avLst>
              <a:gd name="adj" fmla="val 7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6524244" y="2067458"/>
            <a:ext cx="4858207" cy="19202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6524244" y="1485900"/>
            <a:ext cx="457200" cy="4572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7746" y="1619402"/>
            <a:ext cx="190195" cy="19019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134149" y="1476756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7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7134149" y="1666951"/>
            <a:ext cx="29361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2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Lỗi (Bug Report)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6524244" y="2391156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Lỗi Nổi Bật (Key Bug)</a:t>
            </a:r>
            <a:endParaRPr lang="en-US" sz="12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t="-2" b="-2"/>
          <a:stretch/>
        </p:blipFill>
        <p:spPr>
          <a:xfrm>
            <a:off x="6524244" y="2695651"/>
            <a:ext cx="4781398" cy="8001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676949" y="2809951"/>
            <a:ext cx="4629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ID: BUG-001 - Coupon SAVE10 Invalid</a:t>
            </a:r>
            <a:endParaRPr lang="en-US" sz="1000" dirty="0"/>
          </a:p>
        </p:txBody>
      </p:sp>
      <p:sp>
        <p:nvSpPr>
          <p:cNvPr id="39" name="Text 28"/>
          <p:cNvSpPr txBox="1"/>
          <p:nvPr/>
        </p:nvSpPr>
        <p:spPr>
          <a:xfrm>
            <a:off x="6676949" y="3038551"/>
            <a:ext cx="5201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Mô tả:</a:t>
            </a:r>
            <a:r>
              <a:rPr lang="en-US" sz="900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Mã giảm giá "SAVE10" không áp dụng mức giảm 10% như mô tả mà trả về 0%.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6676949" y="3228746"/>
            <a:ext cx="4629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Failed:</a:t>
            </a:r>
            <a:r>
              <a:rPr lang="en-US" sz="900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TC011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6524244" y="3648456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Phân Loại &amp; Thống Kê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6524244" y="3952951"/>
            <a:ext cx="4781398" cy="437998"/>
          </a:xfrm>
          <a:prstGeom prst="roundRect">
            <a:avLst>
              <a:gd name="adj" fmla="val 72615"/>
            </a:avLst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76949" y="4105656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924751" y="4076395"/>
            <a:ext cx="10881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Mức độ Critical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10712196" y="4048049"/>
            <a:ext cx="448056" cy="247802"/>
          </a:xfrm>
          <a:prstGeom prst="roundRect">
            <a:avLst>
              <a:gd name="adj" fmla="val 113540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4"/>
          <p:cNvSpPr txBox="1"/>
          <p:nvPr/>
        </p:nvSpPr>
        <p:spPr>
          <a:xfrm>
            <a:off x="10712196" y="4048049"/>
            <a:ext cx="5056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Lỗi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6524244" y="4466844"/>
            <a:ext cx="4781398" cy="437998"/>
          </a:xfrm>
          <a:prstGeom prst="roundRect">
            <a:avLst>
              <a:gd name="adj" fmla="val 72615"/>
            </a:avLst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76949" y="4619549"/>
            <a:ext cx="133502" cy="133502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924751" y="4591202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Mức độ Major</a:t>
            </a:r>
            <a:endParaRPr lang="en-US" sz="1000" dirty="0"/>
          </a:p>
        </p:txBody>
      </p:sp>
      <p:sp>
        <p:nvSpPr>
          <p:cNvPr id="50" name="Text 37"/>
          <p:cNvSpPr txBox="1"/>
          <p:nvPr/>
        </p:nvSpPr>
        <p:spPr>
          <a:xfrm>
            <a:off x="10712196" y="4562856"/>
            <a:ext cx="5056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Lỗi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6524244" y="4981651"/>
            <a:ext cx="4781398" cy="437998"/>
          </a:xfrm>
          <a:prstGeom prst="roundRect">
            <a:avLst>
              <a:gd name="adj" fmla="val 72615"/>
            </a:avLst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76949" y="5134356"/>
            <a:ext cx="133502" cy="133502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6924751" y="5105095"/>
            <a:ext cx="9948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Mức độ Minor</a:t>
            </a:r>
            <a:endParaRPr lang="en-US" sz="1000" dirty="0"/>
          </a:p>
        </p:txBody>
      </p:sp>
      <p:sp>
        <p:nvSpPr>
          <p:cNvPr id="54" name="Shape 40"/>
          <p:cNvSpPr/>
          <p:nvPr/>
        </p:nvSpPr>
        <p:spPr>
          <a:xfrm>
            <a:off x="10712196" y="5076749"/>
            <a:ext cx="448056" cy="247802"/>
          </a:xfrm>
          <a:prstGeom prst="roundRect">
            <a:avLst>
              <a:gd name="adj" fmla="val 1135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1"/>
          <p:cNvSpPr txBox="1"/>
          <p:nvPr/>
        </p:nvSpPr>
        <p:spPr>
          <a:xfrm>
            <a:off x="10712196" y="5076749"/>
            <a:ext cx="5056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Lỗi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E1F5FE"/>
          </a:solidFill>
          <a:ln w="12700">
            <a:solidFill>
              <a:srgbClr val="E1F5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9144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714146" y="342900"/>
            <a:ext cx="171907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1405" y="171907"/>
            <a:ext cx="3162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Kết &amp; Đánh Giá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181405" y="552298"/>
            <a:ext cx="29873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Phần 8: Kết Quả &amp; Tài Liệu Tham Khảo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-952805" y="4953305"/>
            <a:ext cx="3333902" cy="3333902"/>
          </a:xfrm>
          <a:prstGeom prst="ellipse">
            <a:avLst/>
          </a:prstGeom>
          <a:solidFill>
            <a:srgbClr val="E1F5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0382098" y="1143000"/>
            <a:ext cx="1429207" cy="1429207"/>
          </a:xfrm>
          <a:prstGeom prst="ellipse">
            <a:avLst/>
          </a:prstGeom>
          <a:solidFill>
            <a:srgbClr val="B3E5F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500" y="1238098"/>
            <a:ext cx="4448556" cy="1914754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771754" y="1481328"/>
            <a:ext cx="190195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7046" y="1438351"/>
            <a:ext cx="24213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Tổng Hợp Kết Quả (8.1)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71754" y="1809598"/>
            <a:ext cx="1248156" cy="838505"/>
          </a:xfrm>
          <a:prstGeom prst="roundRect">
            <a:avLst>
              <a:gd name="adj" fmla="val 19827"/>
            </a:avLst>
          </a:prstGeom>
          <a:solidFill>
            <a:srgbClr val="F0F9FF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886054" y="1962302"/>
            <a:ext cx="1019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86054" y="2343607"/>
            <a:ext cx="10195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170786" y="1809598"/>
            <a:ext cx="1248156" cy="838505"/>
          </a:xfrm>
          <a:prstGeom prst="roundRect">
            <a:avLst>
              <a:gd name="adj" fmla="val 19827"/>
            </a:avLst>
          </a:prstGeom>
          <a:solidFill>
            <a:srgbClr val="F0F9FF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2285086" y="1962302"/>
            <a:ext cx="1019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2285086" y="2343607"/>
            <a:ext cx="10195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569818" y="1809598"/>
            <a:ext cx="1248156" cy="838505"/>
          </a:xfrm>
          <a:prstGeom prst="roundRect">
            <a:avLst>
              <a:gd name="adj" fmla="val 19827"/>
            </a:avLst>
          </a:prstGeom>
          <a:solidFill>
            <a:srgbClr val="F0F9FF"/>
          </a:solidFill>
          <a:ln w="12700">
            <a:solidFill>
              <a:srgbClr val="B3E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3684118" y="1962302"/>
            <a:ext cx="1019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3684118" y="2343607"/>
            <a:ext cx="10195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14146" y="2762402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Tỷ lệ đạt: </a:t>
            </a: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96.7%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71500" y="3343046"/>
            <a:ext cx="4448556" cy="3228746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3586277"/>
            <a:ext cx="171907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37844" y="3543300"/>
            <a:ext cx="22046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 &amp; Thực Hiện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71754" y="3914546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Đã làm được (In Scope):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71754" y="5362956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Chưa làm được (Out Scope):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71754" y="4181551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Áp dụng thành công Decision Table &amp; BVA.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71754" y="4457700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Viết code kiểm thử tự động với JUnit 5.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771754" y="4733849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Phát hiện bug logic quan trọng.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71754" y="5009998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Đánh giá chất lượng ứng dụng Tốt.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71754" y="5629046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hiệu năng (Performance).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5905195"/>
            <a:ext cx="4163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Kiểm thử bảo mật (Security).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52514" y="5529377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994246" y="5490972"/>
            <a:ext cx="337413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CẢM ƠN THẦY VÀ CÁC BẠN!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6877202" y="5872277"/>
            <a:ext cx="32653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Đã lắng nghe phần trình bày báo cáo kiểm thử.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361834" y="6139282"/>
            <a:ext cx="23015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Đăng Khoa | Software Testing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397703" y="1238098"/>
            <a:ext cx="6229807" cy="199064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1773" r="-1773"/>
          <a:stretch/>
        </p:blipFill>
        <p:spPr>
          <a:xfrm>
            <a:off x="5597957" y="1481328"/>
            <a:ext cx="133502" cy="171907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5826557" y="1438351"/>
            <a:ext cx="29818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Học &amp; Đề Xuất (8.4 - 8.5)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5597957" y="1809598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Bài học kinh nghiệm: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8585302" y="1809598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Đề xuất cải tiến: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5597957" y="2076602"/>
            <a:ext cx="2915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kỹ các giá trị biên (Boundary) để tránh lỗi lệch 1 đơn vị.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5597957" y="2553005"/>
            <a:ext cx="2915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Tự động hóa (Automation) giúp tiết kiệm thời gian chạy lại (Regression).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8585302" y="2076602"/>
            <a:ext cx="29525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ngay bug coupon SAVE10.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8585302" y="2352751"/>
            <a:ext cx="2915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Thêm validation chặt chẽ hơn cho mã giảm giá.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5397703" y="3419856"/>
            <a:ext cx="6229807" cy="16002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5597957" y="3662172"/>
            <a:ext cx="152705" cy="171907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5844845" y="3619195"/>
            <a:ext cx="19842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77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Tài Liệu Tham Khảo</a:t>
            </a:r>
            <a:endParaRPr lang="en-US" sz="1300" dirty="0"/>
          </a:p>
        </p:txBody>
      </p:sp>
      <p:sp>
        <p:nvSpPr>
          <p:cNvPr id="54" name="Text 45"/>
          <p:cNvSpPr txBox="1"/>
          <p:nvPr/>
        </p:nvSpPr>
        <p:spPr>
          <a:xfrm>
            <a:off x="5597957" y="3991356"/>
            <a:ext cx="5943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JUnit 5 Documentation: User Guide &amp; API Reference.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5597957" y="4267505"/>
            <a:ext cx="5943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 Testing: Testing Web Layers guide.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5597957" y="4543654"/>
            <a:ext cx="5943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Table Testing: ISTQB Standard guidelines.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2674</Words>
  <Application>Microsoft Office PowerPoint</Application>
  <PresentationFormat>Widescreen</PresentationFormat>
  <Paragraphs>506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Courier New</vt:lpstr>
      <vt:lpstr>Montserrat</vt:lpstr>
      <vt:lpstr>Roboto</vt:lpstr>
      <vt:lpstr>Roboto Condensed</vt:lpstr>
      <vt:lpstr>Roboto Mono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Nguyen Khoa</cp:lastModifiedBy>
  <cp:revision>23</cp:revision>
  <dcterms:created xsi:type="dcterms:W3CDTF">2026-03-17T07:03:29Z</dcterms:created>
  <dcterms:modified xsi:type="dcterms:W3CDTF">2026-03-17T09:06:56Z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2026-03-17T07:09:59Z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157139bd-68ab-4563-b567-b3e042f09eae</vt:lpwstr>
  </property>
  <property fmtid="{D5CDD505-2E9C-101B-9397-08002B2CF9AE}" pid="7" name="MSIP_Label_defa4170-0d19-0005-0004-bc88714345d2_ActionId">
    <vt:lpwstr>60f85cd8-e6c0-4c2c-ba9e-ef6bc4d58d90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